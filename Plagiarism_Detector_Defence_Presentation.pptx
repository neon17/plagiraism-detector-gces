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Plagiarism Detector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Minor II Project Defence</a:t>
            </a:r>
          </a:p>
          <a:p/>
          <a:p>
            <a:r>
              <a:t>Gandaki College of Engineering and Science</a:t>
            </a:r>
          </a:p>
          <a:p>
            <a:r>
              <a:t>Bachelor of Engineering in Software Engineering</a:t>
            </a:r>
          </a:p>
          <a:p/>
          <a:p>
            <a:r>
              <a:t>Neon Neupane (22180031)</a:t>
            </a:r>
          </a:p>
          <a:p>
            <a:r>
              <a:t>Bishal Acharya (22180018)</a:t>
            </a:r>
          </a:p>
          <a:p>
            <a:r>
              <a:t>Nabin Giri (22180030)</a:t>
            </a:r>
          </a:p>
          <a:p/>
          <a:p>
            <a:r>
              <a:t>Supervisor: Er. Prativa Nyaupane</a:t>
            </a:r>
          </a:p>
          <a:p/>
          <a:p>
            <a:r>
              <a:t>Shrawan 25, 2083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3B73"/>
                </a:solidFill>
              </a:rPr>
              <a:t>To detect copied text by comparing what sentences mean, not which words they use.</a:t>
            </a:r>
          </a:p>
          <a:p>
            <a:pPr>
              <a:spcAft>
                <a:spcPts val="600"/>
              </a:spcAft>
            </a:pPr>
            <a:r>
              <a:rPr sz="1800" b="0"/>
              <a:t>Compare a batch of documents against each other, and report for every pair how close they are and which sentences are the copied ones.</a:t>
            </a:r>
          </a:p>
          <a:p>
            <a:pPr>
              <a:spcAft>
                <a:spcPts val="600"/>
              </a:spcAft>
            </a:pPr>
            <a:r>
              <a:rPr sz="1800" b="0"/>
              <a:t>Check any single document against public web pages.</a:t>
            </a:r>
          </a:p>
          <a:p>
            <a:pPr>
              <a:spcAft>
                <a:spcPts val="600"/>
              </a:spcAft>
            </a:pPr>
            <a:r>
              <a:rPr sz="1800" b="0"/>
              <a:t>Read the formats students actually submit: PDF, DOCX, TXT and scanned images through OCR, in English and in Nepali.</a:t>
            </a:r>
          </a:p>
          <a:p>
            <a:pPr>
              <a:spcAft>
                <a:spcPts val="600"/>
              </a:spcAft>
            </a:pPr>
            <a:r>
              <a:rPr sz="1800" b="0"/>
              <a:t>Prove the gain by measuring the model against a TF-IDF baseline we wrote ourselves.</a:t>
            </a:r>
          </a:p>
          <a:p>
            <a:pPr>
              <a:spcAft>
                <a:spcPts val="600"/>
              </a:spcAft>
            </a:pPr>
            <a:r>
              <a:rPr sz="1800" b="0"/>
              <a:t>Keep it free, with no login, and store no uploaded file at any 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Diagram</a:t>
            </a:r>
          </a:p>
        </p:txBody>
      </p:sp>
      <p:pic>
        <p:nvPicPr>
          <p:cNvPr id="3" name="Picture 2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760" y="1325880"/>
            <a:ext cx="5872480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A5A5A"/>
                </a:solidFill>
              </a:rPr>
              <a:t>React frontend, one API module, three endpoints, five services, no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— TF-IDF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0">
                <a:latin typeface="Consolas"/>
              </a:rPr>
              <a:t>A = "The student copied the report."     B = "The student wrote the report."</a:t>
            </a:r>
          </a:p>
          <a:p>
            <a:pPr>
              <a:spcAft>
                <a:spcPts val="700"/>
              </a:spcAft>
            </a:pPr>
            <a:r>
              <a:rPr sz="1500" b="0"/>
              <a:t>Drop the stopwords, then weigh every remaining word twice:</a:t>
            </a:r>
          </a:p>
          <a:p>
            <a:pPr lvl="1">
              <a:spcAft>
                <a:spcPts val="700"/>
              </a:spcAft>
            </a:pPr>
            <a:r>
              <a:rPr sz="1300" b="0"/>
              <a:t>TF, how often the word appears in this document, divided by the document length.</a:t>
            </a:r>
          </a:p>
          <a:p>
            <a:pPr lvl="1">
              <a:spcAft>
                <a:spcPts val="700"/>
              </a:spcAft>
            </a:pPr>
            <a:r>
              <a:rPr sz="1300" b="0"/>
              <a:t>IDF = log((1+N) / (1+df)) + 1. A word in every document tells you nothing. A rare word tells you a lot.</a:t>
            </a:r>
          </a:p>
          <a:p>
            <a:pPr lvl="1">
              <a:spcAft>
                <a:spcPts val="700"/>
              </a:spcAft>
            </a:pPr>
            <a:r>
              <a:rPr sz="1300" b="0"/>
              <a:t>The weight of a word is TF x IDF. The document becomes one vector.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3566160"/>
          <a:ext cx="71323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005840"/>
                <a:gridCol w="1005840"/>
                <a:gridCol w="640080"/>
                <a:gridCol w="100584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/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TF in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TF in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IDF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1.2877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0.4292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0.4292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copied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1.6931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0.5644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1.2877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0.4292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0.4292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/>
                        <a:t>wrote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1/3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1.6931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0.5644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6235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A5A5A"/>
                </a:solidFill>
              </a:rPr>
              <a:t>N = 3 documents in this batch. The last two columns are the TF-IDF vectors.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— Cosine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297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/>
              <a:t>Compare the two vectors by the angle between them, not by their length. A long document and a short one can still match.</a:t>
            </a:r>
          </a:p>
          <a:p>
            <a:pPr>
              <a:spcAft>
                <a:spcPts val="700"/>
              </a:spcAft>
            </a:pPr>
            <a:r>
              <a:rPr sz="1400" b="0">
                <a:latin typeface="Consolas"/>
              </a:rPr>
              <a:t>A · B = 0.4292x0.4292 + 0.4292x0.4292 = 0.3684</a:t>
            </a:r>
          </a:p>
          <a:p>
            <a:pPr>
              <a:spcAft>
                <a:spcPts val="700"/>
              </a:spcAft>
            </a:pPr>
            <a:r>
              <a:rPr sz="1400" b="0">
                <a:latin typeface="Consolas"/>
              </a:rPr>
              <a:t>||A|| = ||B|| = 0.8288</a:t>
            </a:r>
          </a:p>
          <a:p>
            <a:pPr>
              <a:spcAft>
                <a:spcPts val="700"/>
              </a:spcAft>
            </a:pPr>
            <a:r>
              <a:rPr sz="1400" b="0">
                <a:latin typeface="Consolas"/>
              </a:rPr>
              <a:t>cos = 0.3684 / 0.6869 = 0.5363</a:t>
            </a:r>
          </a:p>
          <a:p>
            <a:pPr>
              <a:spcAft>
                <a:spcPts val="700"/>
              </a:spcAft>
            </a:pPr>
            <a:r>
              <a:rPr sz="1500" b="0"/>
              <a:t>A and B share two content words out of three, so they land at 0.54.</a:t>
            </a:r>
          </a:p>
          <a:p>
            <a:pPr>
              <a:spcAft>
                <a:spcPts val="700"/>
              </a:spcAft>
            </a:pPr>
            <a:r>
              <a:rPr sz="1500" b="0"/>
              <a:t>1.0 is the same direction. 0 is nothing in common.</a:t>
            </a:r>
          </a:p>
        </p:txBody>
      </p:sp>
      <p:pic>
        <p:nvPicPr>
          <p:cNvPr id="4" name="Picture 3" descr="fig_cos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3931920" cy="34021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TF-IDF Fails, and Why We Trained 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F3B73"/>
                </a:solidFill>
              </a:rPr>
              <a:t>C = "The pupil duplicated the document."</a:t>
            </a:r>
          </a:p>
          <a:p>
            <a:pPr>
              <a:spcAft>
                <a:spcPts val="600"/>
              </a:spcAft>
            </a:pPr>
            <a:r>
              <a:rPr sz="1700" b="0"/>
              <a:t>C says exactly what A says, and shares not one content word with it.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3B73"/>
                </a:solidFill>
              </a:rPr>
              <a:t>TF-IDF(A, C) = 0.0000</a:t>
            </a:r>
          </a:p>
          <a:p>
            <a:pPr lvl="1">
              <a:spcAft>
                <a:spcPts val="600"/>
              </a:spcAft>
            </a:pPr>
            <a:r>
              <a:rPr sz="1400" b="0"/>
              <a:t>The two vectors have no component in common, so the cosine is exactly zero. The method cannot see the paraphrase, and no threshold can rescue it.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F3B73"/>
                </a:solidFill>
              </a:rPr>
              <a:t>Sentence-BERT(A, C) = 0.4590</a:t>
            </a:r>
          </a:p>
          <a:p>
            <a:pPr lvl="1">
              <a:spcAft>
                <a:spcPts val="600"/>
              </a:spcAft>
            </a:pPr>
            <a:r>
              <a:rPr sz="1400" b="0"/>
              <a:t>Same cosine, different vectors. The vector now comes from a transformer trained so that sentences meaning the same thing land near each other.</a:t>
            </a:r>
          </a:p>
          <a:p>
            <a:pPr>
              <a:spcAft>
                <a:spcPts val="600"/>
              </a:spcAft>
            </a:pPr>
            <a:r>
              <a:rPr sz="1700" b="0"/>
              <a:t>On 2000 labelled pairs, the baseline recovers 25.6 percent of the reworded pairs and our fine tuned model 73.7 percent.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/>
              <a:t>Upload three documents: an original, a paraphrase of it, and an unrelated passage.</a:t>
            </a:r>
          </a:p>
          <a:p>
            <a:pPr>
              <a:spcAft>
                <a:spcPts val="600"/>
              </a:spcAft>
            </a:pPr>
            <a:r>
              <a:rPr sz="1800" b="0"/>
              <a:t>Read the similarity matrix, then open the flagged pair to see which sentences match and the percentage copied.</a:t>
            </a:r>
          </a:p>
          <a:p>
            <a:pPr>
              <a:spcAft>
                <a:spcPts val="600"/>
              </a:spcAft>
            </a:pPr>
            <a:r>
              <a:rPr sz="1800" b="0"/>
              <a:t>Switch the engine to TF-IDF and compare the same batch again.</a:t>
            </a:r>
          </a:p>
          <a:p>
            <a:pPr>
              <a:spcAft>
                <a:spcPts val="600"/>
              </a:spcAft>
            </a:pPr>
            <a:r>
              <a:rPr sz="1800" b="0"/>
              <a:t>Move the threshold slider and watch what gets flagged change.</a:t>
            </a:r>
          </a:p>
          <a:p>
            <a:pPr>
              <a:spcAft>
                <a:spcPts val="600"/>
              </a:spcAft>
            </a:pPr>
            <a:r>
              <a:rPr sz="1800" b="0"/>
              <a:t>Run the web check on a passage taken from a public page.</a:t>
            </a:r>
          </a:p>
          <a:p>
            <a:pPr>
              <a:spcAft>
                <a:spcPts val="600"/>
              </a:spcAft>
            </a:pPr>
            <a:r>
              <a:rPr sz="1800" b="0"/>
              <a:t>Upload a Nepali document and a scanned image to show OCR and Devanagari.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— Backup Screenshots</a:t>
            </a:r>
          </a:p>
        </p:txBody>
      </p:sp>
      <p:pic>
        <p:nvPicPr>
          <p:cNvPr id="3" name="Picture 2" descr="annex2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00200"/>
            <a:ext cx="4297680" cy="2958013"/>
          </a:xfrm>
          <a:prstGeom prst="rect">
            <a:avLst/>
          </a:prstGeom>
        </p:spPr>
      </p:pic>
      <p:pic>
        <p:nvPicPr>
          <p:cNvPr id="4" name="Picture 3" descr="annex3_high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57400"/>
            <a:ext cx="4297680" cy="22932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2578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5A5A5A"/>
                </a:solidFill>
              </a:rPr>
              <a:t>The similarity matrix, and the copied sentences marked inside the document.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and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