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Plagiarism Detector</a:t>
            </a:r>
          </a:p>
        </p:txBody>
      </p:sp>
      <p:sp>
        <p:nvSpPr>
          <p:cNvPr id="3" name="Subtitle 2"/>
          <p:cNvSpPr>
            <a:spLocks noGrp="1"/>
          </p:cNvSpPr>
          <p:nvPr>
            <p:ph type="subTitle" idx="1"/>
          </p:nvPr>
        </p:nvSpPr>
        <p:spPr/>
        <p:txBody>
          <a:bodyPr/>
          <a:lstStyle/>
          <a:p>
            <a:r>
              <a:t>Minor II Project Completion Presentation</a:t>
            </a:r>
          </a:p>
          <a:p/>
          <a:p>
            <a:r>
              <a:t>Gandaki College of Engineering and Science</a:t>
            </a:r>
          </a:p>
          <a:p/>
          <a:p>
            <a:r>
              <a:t>Presented by:</a:t>
            </a:r>
          </a:p>
          <a:p>
            <a:r>
              <a:t>Neon Neupane</a:t>
            </a:r>
          </a:p>
          <a:p>
            <a:r>
              <a:t>Bishal Acharya</a:t>
            </a:r>
          </a:p>
          <a:p>
            <a:r>
              <a:t>Nabin Giri</a:t>
            </a:r>
          </a:p>
          <a:p/>
          <a:p>
            <a:r>
              <a:t>Date: Shrawan 25, 2083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Problem</a:t>
            </a:r>
          </a:p>
        </p:txBody>
      </p:sp>
      <p:sp>
        <p:nvSpPr>
          <p:cNvPr id="3" name="Content Placeholder 2"/>
          <p:cNvSpPr>
            <a:spLocks noGrp="1"/>
          </p:cNvSpPr>
          <p:nvPr>
            <p:ph idx="1"/>
          </p:nvPr>
        </p:nvSpPr>
        <p:spPr/>
        <p:txBody>
          <a:bodyPr wrap="square"/>
          <a:lstStyle/>
          <a:p>
            <a:pPr>
              <a:spcAft>
                <a:spcPts val="600"/>
              </a:spcAft>
            </a:pPr>
            <a:r>
              <a:rPr sz="2000" b="0"/>
              <a:t>Free checkers compare words, not meaning.</a:t>
            </a:r>
          </a:p>
          <a:p>
            <a:pPr lvl="1">
              <a:spcAft>
                <a:spcPts val="600"/>
              </a:spcAft>
            </a:pPr>
            <a:r>
              <a:rPr sz="1600" b="0"/>
              <a:t>Reword four words in a sentence and the reported similarity collapses.</a:t>
            </a:r>
          </a:p>
          <a:p>
            <a:pPr>
              <a:spcAft>
                <a:spcPts val="600"/>
              </a:spcAft>
            </a:pPr>
            <a:r>
              <a:rPr sz="2000" b="0"/>
              <a:t>The tools that do it properly are out of reach.</a:t>
            </a:r>
          </a:p>
          <a:p>
            <a:pPr lvl="1">
              <a:spcAft>
                <a:spcPts val="600"/>
              </a:spcAft>
            </a:pPr>
            <a:r>
              <a:rPr sz="1600" b="0"/>
              <a:t>Turnitin sells to institutions; Quetext and Copyleaks give a small free quota, then ask for a card.</a:t>
            </a:r>
          </a:p>
          <a:p>
            <a:pPr>
              <a:spcAft>
                <a:spcPts val="600"/>
              </a:spcAft>
            </a:pPr>
            <a:r>
              <a:rPr sz="2000" b="0"/>
              <a:t>Three problems nobody solves for a Nepali college:</a:t>
            </a:r>
          </a:p>
          <a:p>
            <a:pPr lvl="1">
              <a:spcAft>
                <a:spcPts val="600"/>
              </a:spcAft>
            </a:pPr>
            <a:r>
              <a:rPr sz="1600" b="0"/>
              <a:t>A large share of what is submitted is scanned, not typed.</a:t>
            </a:r>
          </a:p>
          <a:p>
            <a:pPr lvl="1">
              <a:spcAft>
                <a:spcPts val="600"/>
              </a:spcAft>
            </a:pPr>
            <a:r>
              <a:rPr sz="1600" b="0"/>
              <a:t>Devanagari is thrown away before the comparison even starts.</a:t>
            </a:r>
          </a:p>
          <a:p>
            <a:pPr lvl="1">
              <a:spcAft>
                <a:spcPts val="600"/>
              </a:spcAft>
            </a:pPr>
            <a:r>
              <a:rPr sz="1600" b="0"/>
              <a:t>The free services keep a copy of every file you hand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Where They Ended Up</a:t>
            </a:r>
          </a:p>
        </p:txBody>
      </p:sp>
      <p:sp>
        <p:nvSpPr>
          <p:cNvPr id="3" name="Content Placeholder 2"/>
          <p:cNvSpPr>
            <a:spLocks noGrp="1"/>
          </p:cNvSpPr>
          <p:nvPr>
            <p:ph idx="1"/>
          </p:nvPr>
        </p:nvSpPr>
        <p:spPr/>
        <p:txBody>
          <a:bodyPr wrap="square"/>
          <a:lstStyle/>
          <a:p>
            <a:pPr>
              <a:spcAft>
                <a:spcPts val="600"/>
              </a:spcAft>
            </a:pPr>
            <a:r>
              <a:rPr sz="1800" b="0"/>
              <a:t>1. Compare a batch of documents against each other</a:t>
            </a:r>
          </a:p>
          <a:p>
            <a:pPr lvl="1">
              <a:spcAft>
                <a:spcPts val="600"/>
              </a:spcAft>
            </a:pPr>
            <a:r>
              <a:rPr sz="1500" b="0"/>
              <a:t>Done: n x n matrix, percentage copied and the matched sentences for every flagged pair.</a:t>
            </a:r>
          </a:p>
          <a:p>
            <a:pPr>
              <a:spcAft>
                <a:spcPts val="600"/>
              </a:spcAft>
            </a:pPr>
            <a:r>
              <a:rPr sz="1800" b="0"/>
              <a:t>2. Check a document against public web pages</a:t>
            </a:r>
          </a:p>
          <a:p>
            <a:pPr lvl="1">
              <a:spcAft>
                <a:spcPts val="600"/>
              </a:spcAft>
            </a:pPr>
            <a:r>
              <a:rPr sz="1500" b="0"/>
              <a:t>Done: keyword search, page fetch, sentence level comparison.</a:t>
            </a:r>
          </a:p>
          <a:p>
            <a:pPr>
              <a:spcAft>
                <a:spcPts val="600"/>
              </a:spcAft>
            </a:pPr>
            <a:r>
              <a:rPr sz="1800" b="0"/>
              <a:t>3. Catch paraphrase, and measure it against our own baseline</a:t>
            </a:r>
          </a:p>
          <a:p>
            <a:pPr lvl="1">
              <a:spcAft>
                <a:spcPts val="600"/>
              </a:spcAft>
            </a:pPr>
            <a:r>
              <a:rPr sz="1500" b="0"/>
              <a:t>Done: 0.826 accuracy fine tuned against 0.666 for the TF-IDF baseline.</a:t>
            </a:r>
          </a:p>
          <a:p>
            <a:pPr>
              <a:spcAft>
                <a:spcPts val="600"/>
              </a:spcAft>
            </a:pPr>
            <a:r>
              <a:rPr sz="1800" b="0"/>
              <a:t>4. Read PDF, DOCX, TXT and scans, in English and Nepali</a:t>
            </a:r>
          </a:p>
          <a:p>
            <a:pPr lvl="1">
              <a:spcAft>
                <a:spcPts val="600"/>
              </a:spcAft>
            </a:pPr>
            <a:r>
              <a:rPr sz="1500" b="0"/>
              <a:t>Done: OCR for images and for scanned PDFs; Devanagari handled throughout.</a:t>
            </a:r>
          </a:p>
          <a:p>
            <a:pPr>
              <a:spcAft>
                <a:spcPts val="600"/>
              </a:spcAft>
            </a:pPr>
            <a:r>
              <a:rPr sz="1800" b="0"/>
              <a:t>5. Free, no login, nothing kept</a:t>
            </a:r>
          </a:p>
          <a:p>
            <a:pPr lvl="1">
              <a:spcAft>
                <a:spcPts val="600"/>
              </a:spcAft>
            </a:pPr>
            <a:r>
              <a:rPr sz="1500" b="0"/>
              <a:t>Done: no uploaded file is written to disk or to a database at any 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Finished System Does</a:t>
            </a:r>
          </a:p>
        </p:txBody>
      </p:sp>
      <p:sp>
        <p:nvSpPr>
          <p:cNvPr id="3" name="Content Placeholder 2"/>
          <p:cNvSpPr>
            <a:spLocks noGrp="1"/>
          </p:cNvSpPr>
          <p:nvPr>
            <p:ph idx="1"/>
          </p:nvPr>
        </p:nvSpPr>
        <p:spPr/>
        <p:txBody>
          <a:bodyPr wrap="square"/>
          <a:lstStyle/>
          <a:p>
            <a:pPr>
              <a:spcAft>
                <a:spcPts val="600"/>
              </a:spcAft>
            </a:pPr>
            <a:r>
              <a:rPr sz="1800" b="0"/>
              <a:t>Upload PDF, Word, text or images. A scanned PDF with no text layer is detected and sent to OCR automatically.</a:t>
            </a:r>
          </a:p>
          <a:p>
            <a:pPr>
              <a:spcAft>
                <a:spcPts val="600"/>
              </a:spcAft>
            </a:pPr>
            <a:r>
              <a:rPr sz="1800" b="0"/>
              <a:t>Every document is compared against every other one and the result is drawn as a similarity matrix.</a:t>
            </a:r>
          </a:p>
          <a:p>
            <a:pPr>
              <a:spcAft>
                <a:spcPts val="600"/>
              </a:spcAft>
            </a:pPr>
            <a:r>
              <a:rPr sz="1800" b="0"/>
              <a:t>Each flagged pair carries a percentage copied and the sentences that match, marked inside the text.</a:t>
            </a:r>
          </a:p>
          <a:p>
            <a:pPr>
              <a:spcAft>
                <a:spcPts val="600"/>
              </a:spcAft>
            </a:pPr>
            <a:r>
              <a:rPr sz="1800" b="0"/>
              <a:t>Any one document can be checked against public web pages.</a:t>
            </a:r>
          </a:p>
          <a:p>
            <a:pPr>
              <a:spcAft>
                <a:spcPts val="600"/>
              </a:spcAft>
            </a:pPr>
            <a:r>
              <a:rPr sz="1800" b="0"/>
              <a:t>The engine and the threshold are controls in the interface, not constants in the code.</a:t>
            </a:r>
          </a:p>
          <a:p>
            <a:pPr>
              <a:spcAft>
                <a:spcPts val="600"/>
              </a:spcAft>
            </a:pPr>
            <a:r>
              <a:rPr sz="1800" b="0"/>
              <a:t>Nothing is stored. The answer is returned and the file is gone.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Architecture</a:t>
            </a:r>
          </a:p>
        </p:txBody>
      </p:sp>
      <p:pic>
        <p:nvPicPr>
          <p:cNvPr id="3" name="Picture 2" descr="fig1_architecture.png"/>
          <p:cNvPicPr>
            <a:picLocks noChangeAspect="1"/>
          </p:cNvPicPr>
          <p:nvPr/>
        </p:nvPicPr>
        <p:blipFill>
          <a:blip r:embed="rId2"/>
          <a:stretch>
            <a:fillRect/>
          </a:stretch>
        </p:blipFill>
        <p:spPr>
          <a:xfrm>
            <a:off x="1695683" y="1371600"/>
            <a:ext cx="5752633" cy="4389120"/>
          </a:xfrm>
          <a:prstGeom prst="rect">
            <a:avLst/>
          </a:prstGeom>
        </p:spPr>
      </p:pic>
      <p:sp>
        <p:nvSpPr>
          <p:cNvPr id="4" name="TextBox 3"/>
          <p:cNvSpPr txBox="1"/>
          <p:nvPr/>
        </p:nvSpPr>
        <p:spPr>
          <a:xfrm>
            <a:off x="457200" y="5943600"/>
            <a:ext cx="8229600" cy="640080"/>
          </a:xfrm>
          <a:prstGeom prst="rect">
            <a:avLst/>
          </a:prstGeom>
          <a:noFill/>
        </p:spPr>
        <p:txBody>
          <a:bodyPr wrap="none">
            <a:spAutoFit/>
          </a:bodyPr>
          <a:lstStyle/>
          <a:p>
            <a:pPr algn="ctr"/>
            <a:r>
              <a:rPr sz="1400" i="1">
                <a:solidFill>
                  <a:srgbClr val="5A5A5A"/>
                </a:solidFill>
              </a:rPr>
              <a:t>React frontend, Django REST backend, five independent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 Comparison Runs</a:t>
            </a:r>
          </a:p>
        </p:txBody>
      </p:sp>
      <p:sp>
        <p:nvSpPr>
          <p:cNvPr id="3" name="Content Placeholder 2"/>
          <p:cNvSpPr>
            <a:spLocks noGrp="1"/>
          </p:cNvSpPr>
          <p:nvPr>
            <p:ph idx="1"/>
          </p:nvPr>
        </p:nvSpPr>
        <p:spPr/>
        <p:txBody>
          <a:bodyPr wrap="square"/>
          <a:lstStyle/>
          <a:p>
            <a:pPr>
              <a:spcAft>
                <a:spcPts val="600"/>
              </a:spcAft>
            </a:pPr>
            <a:r>
              <a:rPr sz="1700" b="1">
                <a:solidFill>
                  <a:srgbClr val="1F3B73"/>
                </a:solidFill>
              </a:rPr>
              <a:t>1. Read the document</a:t>
            </a:r>
          </a:p>
          <a:p>
            <a:pPr lvl="1">
              <a:spcAft>
                <a:spcPts val="600"/>
              </a:spcAft>
            </a:pPr>
            <a:r>
              <a:rPr sz="1400" b="0"/>
              <a:t>TXT and DOCX directly, PDF through a parser, images through Tesseract. No text layer means OCR.</a:t>
            </a:r>
          </a:p>
          <a:p>
            <a:pPr>
              <a:spcAft>
                <a:spcPts val="600"/>
              </a:spcAft>
            </a:pPr>
            <a:r>
              <a:rPr sz="1700" b="1">
                <a:solidFill>
                  <a:srgbClr val="1F3B73"/>
                </a:solidFill>
              </a:rPr>
              <a:t>2. Prepare the text</a:t>
            </a:r>
          </a:p>
          <a:p>
            <a:pPr lvl="1">
              <a:spcAft>
                <a:spcPts val="600"/>
              </a:spcAft>
            </a:pPr>
            <a:r>
              <a:rPr sz="1400" b="0"/>
              <a:t>Clean, normalise the spacing, split into sentences at the full stop, the question mark or the danda.</a:t>
            </a:r>
          </a:p>
          <a:p>
            <a:pPr>
              <a:spcAft>
                <a:spcPts val="600"/>
              </a:spcAft>
            </a:pPr>
            <a:r>
              <a:rPr sz="1700" b="1">
                <a:solidFill>
                  <a:srgbClr val="1F3B73"/>
                </a:solidFill>
              </a:rPr>
              <a:t>3. Compare every pair</a:t>
            </a:r>
          </a:p>
          <a:p>
            <a:pPr lvl="1">
              <a:spcAft>
                <a:spcPts val="600"/>
              </a:spcAft>
            </a:pPr>
            <a:r>
              <a:rPr sz="1400" b="0"/>
              <a:t>One vector per document, cosine against every other, which produces the matrix.</a:t>
            </a:r>
          </a:p>
          <a:p>
            <a:pPr>
              <a:spcAft>
                <a:spcPts val="600"/>
              </a:spcAft>
            </a:pPr>
            <a:r>
              <a:rPr sz="1700" b="1">
                <a:solidFill>
                  <a:srgbClr val="1F3B73"/>
                </a:solidFill>
              </a:rPr>
              <a:t>4. Check against the web</a:t>
            </a:r>
          </a:p>
          <a:p>
            <a:pPr lvl="1">
              <a:spcAft>
                <a:spcPts val="600"/>
              </a:spcAft>
            </a:pPr>
            <a:r>
              <a:rPr sz="1400" b="0"/>
              <a:t>Frequent words become a query, pages are fetched and stripped, then compared.</a:t>
            </a:r>
          </a:p>
          <a:p>
            <a:pPr>
              <a:spcAft>
                <a:spcPts val="600"/>
              </a:spcAft>
            </a:pPr>
            <a:r>
              <a:rPr sz="1700" b="1">
                <a:solidFill>
                  <a:srgbClr val="1F3B73"/>
                </a:solidFill>
              </a:rPr>
              <a:t>5. Show the result</a:t>
            </a:r>
          </a:p>
          <a:p>
            <a:pPr lvl="1">
              <a:spcAft>
                <a:spcPts val="600"/>
              </a:spcAft>
            </a:pPr>
            <a:r>
              <a:rPr sz="1400" b="0"/>
              <a:t>Matrix, percentage copied and matched sentences, returned as JSON and drawn by React.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Model: Sentence-BERT, Fine Tuned</a:t>
            </a:r>
          </a:p>
        </p:txBody>
      </p:sp>
      <p:sp>
        <p:nvSpPr>
          <p:cNvPr id="3" name="Content Placeholder 2"/>
          <p:cNvSpPr>
            <a:spLocks noGrp="1"/>
          </p:cNvSpPr>
          <p:nvPr>
            <p:ph idx="1"/>
          </p:nvPr>
        </p:nvSpPr>
        <p:spPr/>
        <p:txBody>
          <a:bodyPr wrap="square"/>
          <a:lstStyle/>
          <a:p>
            <a:pPr>
              <a:spcAft>
                <a:spcPts val="600"/>
              </a:spcAft>
            </a:pPr>
            <a:r>
              <a:rPr sz="1700" b="0"/>
              <a:t>Base model: all-MiniLM-L6-v2, a distilled six layer transformer that runs on the laptops we own.</a:t>
            </a:r>
          </a:p>
          <a:p>
            <a:pPr>
              <a:spcAft>
                <a:spcPts val="600"/>
              </a:spcAft>
            </a:pPr>
            <a:r>
              <a:rPr sz="1700" b="1">
                <a:solidFill>
                  <a:srgbClr val="1F3B73"/>
                </a:solidFill>
              </a:rPr>
              <a:t>Siamese architecture:</a:t>
            </a:r>
          </a:p>
          <a:p>
            <a:pPr lvl="1">
              <a:spcAft>
                <a:spcPts val="600"/>
              </a:spcAft>
            </a:pPr>
            <a:r>
              <a:rPr sz="1400" b="0"/>
              <a:t>Two copies of one network share their weights.</a:t>
            </a:r>
          </a:p>
          <a:p>
            <a:pPr lvl="1">
              <a:spcAft>
                <a:spcPts val="600"/>
              </a:spcAft>
            </a:pPr>
            <a:r>
              <a:rPr sz="1400" b="0"/>
              <a:t>Each side turns a sentence into a fixed vector.</a:t>
            </a:r>
          </a:p>
          <a:p>
            <a:pPr lvl="1">
              <a:spcAft>
                <a:spcPts val="600"/>
              </a:spcAft>
            </a:pPr>
            <a:r>
              <a:rPr sz="1400" b="0"/>
              <a:t>Training pulls a matching pair together and pushes a non-matching pair apart.</a:t>
            </a:r>
          </a:p>
          <a:p>
            <a:pPr lvl="1">
              <a:spcAft>
                <a:spcPts val="600"/>
              </a:spcAft>
            </a:pPr>
            <a:r>
              <a:rPr sz="1400" b="0"/>
              <a:t>Encode each sentence once, then compare any two with a cosine. A batch costs one encoding pass, not one pass per pair.</a:t>
            </a:r>
          </a:p>
          <a:p>
            <a:pPr>
              <a:spcAft>
                <a:spcPts val="600"/>
              </a:spcAft>
            </a:pPr>
            <a:r>
              <a:rPr sz="1700" b="1">
                <a:solidFill>
                  <a:srgbClr val="1F3B73"/>
                </a:solidFill>
              </a:rPr>
              <a:t>Training data: 30,000 labelled pairs from the Quora Question Pairs corpus.</a:t>
            </a:r>
          </a:p>
          <a:p>
            <a:pPr lvl="1">
              <a:spcAft>
                <a:spcPts val="600"/>
              </a:spcAft>
            </a:pPr>
            <a:r>
              <a:rPr sz="1400" b="0"/>
              <a:t>27,000 for training against 3,000 held back. One epoch, batch size 32, cosine similarity loss.</a:t>
            </a:r>
          </a:p>
          <a:p>
            <a:pPr lvl="1">
              <a:spcAft>
                <a:spcPts val="600"/>
              </a:spcAft>
            </a:pPr>
            <a:r>
              <a:rPr sz="1400" b="0"/>
              <a:t>Evaluated on a second corpus (MRPC) the model had never seen.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Baseline We Wrote Ourselves</a:t>
            </a:r>
          </a:p>
        </p:txBody>
      </p:sp>
      <p:sp>
        <p:nvSpPr>
          <p:cNvPr id="3" name="Content Placeholder 2"/>
          <p:cNvSpPr>
            <a:spLocks noGrp="1"/>
          </p:cNvSpPr>
          <p:nvPr>
            <p:ph idx="1"/>
          </p:nvPr>
        </p:nvSpPr>
        <p:spPr/>
        <p:txBody>
          <a:bodyPr wrap="square"/>
          <a:lstStyle/>
          <a:p>
            <a:pPr>
              <a:spcAft>
                <a:spcPts val="600"/>
              </a:spcAft>
            </a:pPr>
            <a:r>
              <a:rPr sz="1800" b="0"/>
              <a:t>TF-IDF with cosine similarity, built from scratch with PyTorch tensors rather than imported from a library.</a:t>
            </a:r>
          </a:p>
          <a:p>
            <a:pPr>
              <a:spcAft>
                <a:spcPts val="600"/>
              </a:spcAft>
            </a:pPr>
            <a:r>
              <a:rPr sz="1800" b="0"/>
              <a:t>Both engines then run on the same tensors and the same cosine, so any difference between them belongs to the model and not to somebody else’s optimised library code.</a:t>
            </a:r>
          </a:p>
          <a:p>
            <a:pPr>
              <a:spcAft>
                <a:spcPts val="600"/>
              </a:spcAft>
            </a:pPr>
            <a:r>
              <a:rPr sz="1800" b="0"/>
              <a:t>It stayed inside the shipped system instead of being deleted once the trained model worked, and it is a switch in the interface.</a:t>
            </a:r>
          </a:p>
          <a:p>
            <a:pPr>
              <a:spcAft>
                <a:spcPts val="600"/>
              </a:spcAft>
            </a:pPr>
            <a:r>
              <a:rPr sz="1800" b="0"/>
              <a:t>Without it, the claim that our model detects paraphrase would rest on nothing anyone could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Checking Against the Web</a:t>
            </a:r>
          </a:p>
        </p:txBody>
      </p:sp>
      <p:sp>
        <p:nvSpPr>
          <p:cNvPr id="3" name="Content Placeholder 2"/>
          <p:cNvSpPr>
            <a:spLocks noGrp="1"/>
          </p:cNvSpPr>
          <p:nvPr>
            <p:ph idx="1"/>
          </p:nvPr>
        </p:nvSpPr>
        <p:spPr/>
        <p:txBody>
          <a:bodyPr wrap="square"/>
          <a:lstStyle/>
          <a:p>
            <a:pPr>
              <a:spcAft>
                <a:spcPts val="600"/>
              </a:spcAft>
            </a:pPr>
            <a:r>
              <a:rPr sz="1800" b="1">
                <a:solidFill>
                  <a:srgbClr val="1F3B73"/>
                </a:solidFill>
              </a:rPr>
              <a:t>Keyword extraction</a:t>
            </a:r>
          </a:p>
          <a:p>
            <a:pPr lvl="1">
              <a:spcAft>
                <a:spcPts val="600"/>
              </a:spcAft>
            </a:pPr>
            <a:r>
              <a:rPr sz="1500" b="0"/>
              <a:t>The six most frequent content words become the search query, after the stopwords are dropped.</a:t>
            </a:r>
          </a:p>
          <a:p>
            <a:pPr>
              <a:spcAft>
                <a:spcPts val="600"/>
              </a:spcAft>
            </a:pPr>
            <a:r>
              <a:rPr sz="1800" b="1">
                <a:solidFill>
                  <a:srgbClr val="1F3B73"/>
                </a:solidFill>
              </a:rPr>
              <a:t>Search and fetch</a:t>
            </a:r>
          </a:p>
          <a:p>
            <a:pPr lvl="1">
              <a:spcAft>
                <a:spcPts val="600"/>
              </a:spcAft>
            </a:pPr>
            <a:r>
              <a:rPr sz="1500" b="0"/>
              <a:t>The DuckDuckGo HTML endpoint, no API key and no account, returns up to ten URLs.</a:t>
            </a:r>
          </a:p>
          <a:p>
            <a:pPr lvl="1">
              <a:spcAft>
                <a:spcPts val="600"/>
              </a:spcAft>
            </a:pPr>
            <a:r>
              <a:rPr sz="1500" b="0"/>
              <a:t>Each page is fetched and the script, style, navigation, header and footer are removed, leaving the paragraph text.</a:t>
            </a:r>
          </a:p>
          <a:p>
            <a:pPr>
              <a:spcAft>
                <a:spcPts val="600"/>
              </a:spcAft>
            </a:pPr>
            <a:r>
              <a:rPr sz="1800" b="1">
                <a:solidFill>
                  <a:srgbClr val="1F3B73"/>
                </a:solidFill>
              </a:rPr>
              <a:t>Compare</a:t>
            </a:r>
          </a:p>
          <a:p>
            <a:pPr lvl="1">
              <a:spcAft>
                <a:spcPts val="600"/>
              </a:spcAft>
            </a:pPr>
            <a:r>
              <a:rPr sz="1500" b="0"/>
              <a:t>The page is scored against the document and its matching sentences are listed.</a:t>
            </a:r>
          </a:p>
          <a:p>
            <a:pPr lvl="1">
              <a:spcAft>
                <a:spcPts val="600"/>
              </a:spcAft>
            </a:pPr>
            <a:r>
              <a:rPr sz="1500" b="0"/>
              <a:t>A page that is blocked or slow is skipped, so one dead link never breaks the check.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Handling Devanagari</a:t>
            </a:r>
          </a:p>
        </p:txBody>
      </p:sp>
      <p:sp>
        <p:nvSpPr>
          <p:cNvPr id="3" name="Content Placeholder 2"/>
          <p:cNvSpPr>
            <a:spLocks noGrp="1"/>
          </p:cNvSpPr>
          <p:nvPr>
            <p:ph idx="1"/>
          </p:nvPr>
        </p:nvSpPr>
        <p:spPr/>
        <p:txBody>
          <a:bodyPr wrap="square"/>
          <a:lstStyle/>
          <a:p>
            <a:pPr>
              <a:spcAft>
                <a:spcPts val="600"/>
              </a:spcAft>
            </a:pPr>
            <a:r>
              <a:rPr sz="1800" b="0"/>
              <a:t>Nepali is not English in a different alphabet. Three things had to change.</a:t>
            </a:r>
          </a:p>
          <a:p>
            <a:pPr lvl="1">
              <a:spcAft>
                <a:spcPts val="600"/>
              </a:spcAft>
            </a:pPr>
            <a:r>
              <a:rPr sz="1500" b="0"/>
              <a:t>A Devanagari sentence closes with the danda, and often with no space after it. The splitter now ends a sentence on that character either way.</a:t>
            </a:r>
          </a:p>
          <a:p>
            <a:pPr lvl="1">
              <a:spcAft>
                <a:spcPts val="600"/>
              </a:spcAft>
            </a:pPr>
            <a:r>
              <a:rPr sz="1500" b="0"/>
              <a:t>The baseline tokenizer matched Latin letters and digits only, so it returned an empty list for Nepali and reported a similarity of zero for two identical Nepali documents. The pattern now covers the Devanagari range.</a:t>
            </a:r>
          </a:p>
          <a:p>
            <a:pPr lvl="1">
              <a:spcAft>
                <a:spcPts val="600"/>
              </a:spcAft>
            </a:pPr>
            <a:r>
              <a:rPr sz="1500" b="0"/>
              <a:t>Common Nepali function words were added to the stopword list.</a:t>
            </a:r>
          </a:p>
          <a:p>
            <a:pPr lvl="1">
              <a:spcAft>
                <a:spcPts val="600"/>
              </a:spcAft>
            </a:pPr>
            <a:r>
              <a:rPr sz="1500" b="0"/>
              <a:t>Tesseract uses the Nepali training data when the machine has it and falls back to English when it does not. The check runs once and is remembered.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Accuracy of the Three Engines</a:t>
            </a:r>
          </a:p>
        </p:txBody>
      </p:sp>
      <p:graphicFrame>
        <p:nvGraphicFramePr>
          <p:cNvPr id="3" name="Table 2"/>
          <p:cNvGraphicFramePr>
            <a:graphicFrameLocks noGrp="1"/>
          </p:cNvGraphicFramePr>
          <p:nvPr/>
        </p:nvGraphicFramePr>
        <p:xfrm>
          <a:off x="365760" y="1463040"/>
          <a:ext cx="8412480" cy="3291840"/>
        </p:xfrm>
        <a:graphic>
          <a:graphicData uri="http://schemas.openxmlformats.org/drawingml/2006/table">
            <a:tbl>
              <a:tblPr firstRow="1" bandRow="1">
                <a:tableStyleId>{5C22544A-7EE6-4342-B048-85BDC9FD1C3A}</a:tableStyleId>
              </a:tblPr>
              <a:tblGrid>
                <a:gridCol w="2011680"/>
                <a:gridCol w="1828800"/>
                <a:gridCol w="1188720"/>
                <a:gridCol w="1188720"/>
                <a:gridCol w="1097280"/>
                <a:gridCol w="1097280"/>
              </a:tblGrid>
              <a:tr h="470262">
                <a:tc>
                  <a:txBody>
                    <a:bodyPr/>
                    <a:lstStyle/>
                    <a:p>
                      <a:r>
                        <a:rPr sz="1300" b="1"/>
                        <a:t>Evaluation set</a:t>
                      </a:r>
                    </a:p>
                  </a:txBody>
                  <a:tcPr/>
                </a:tc>
                <a:tc>
                  <a:txBody>
                    <a:bodyPr/>
                    <a:lstStyle/>
                    <a:p>
                      <a:r>
                        <a:rPr sz="1300" b="1"/>
                        <a:t>Engine</a:t>
                      </a:r>
                    </a:p>
                  </a:txBody>
                  <a:tcPr/>
                </a:tc>
                <a:tc>
                  <a:txBody>
                    <a:bodyPr/>
                    <a:lstStyle/>
                    <a:p>
                      <a:r>
                        <a:rPr sz="1300" b="1"/>
                        <a:t>Accuracy</a:t>
                      </a:r>
                    </a:p>
                  </a:txBody>
                  <a:tcPr/>
                </a:tc>
                <a:tc>
                  <a:txBody>
                    <a:bodyPr/>
                    <a:lstStyle/>
                    <a:p>
                      <a:r>
                        <a:rPr sz="1300" b="1"/>
                        <a:t>Precision</a:t>
                      </a:r>
                    </a:p>
                  </a:txBody>
                  <a:tcPr/>
                </a:tc>
                <a:tc>
                  <a:txBody>
                    <a:bodyPr/>
                    <a:lstStyle/>
                    <a:p>
                      <a:r>
                        <a:rPr sz="1300" b="1"/>
                        <a:t>Recall</a:t>
                      </a:r>
                    </a:p>
                  </a:txBody>
                  <a:tcPr/>
                </a:tc>
                <a:tc>
                  <a:txBody>
                    <a:bodyPr/>
                    <a:lstStyle/>
                    <a:p>
                      <a:r>
                        <a:rPr sz="1300" b="1"/>
                        <a:t>F1</a:t>
                      </a:r>
                    </a:p>
                  </a:txBody>
                  <a:tcPr/>
                </a:tc>
              </a:tr>
              <a:tr h="470262">
                <a:tc>
                  <a:txBody>
                    <a:bodyPr/>
                    <a:lstStyle/>
                    <a:p>
                      <a:r>
                        <a:rPr sz="1300" b="0"/>
                        <a:t>Quora validation</a:t>
                      </a:r>
                    </a:p>
                    <a:p>
                      <a:r>
                        <a:rPr sz="1300" b="0"/>
                        <a:t>(2000 pairs)</a:t>
                      </a:r>
                    </a:p>
                  </a:txBody>
                  <a:tcPr/>
                </a:tc>
                <a:tc>
                  <a:txBody>
                    <a:bodyPr/>
                    <a:lstStyle/>
                    <a:p>
                      <a:r>
                        <a:rPr sz="1300" b="0"/>
                        <a:t>TF-IDF baseline</a:t>
                      </a:r>
                    </a:p>
                  </a:txBody>
                  <a:tcPr/>
                </a:tc>
                <a:tc>
                  <a:txBody>
                    <a:bodyPr/>
                    <a:lstStyle/>
                    <a:p>
                      <a:r>
                        <a:rPr sz="1300" b="0"/>
                        <a:t>0.6665</a:t>
                      </a:r>
                    </a:p>
                  </a:txBody>
                  <a:tcPr/>
                </a:tc>
                <a:tc>
                  <a:txBody>
                    <a:bodyPr/>
                    <a:lstStyle/>
                    <a:p>
                      <a:r>
                        <a:rPr sz="1300" b="0"/>
                        <a:t>0.5380</a:t>
                      </a:r>
                    </a:p>
                  </a:txBody>
                  <a:tcPr/>
                </a:tc>
                <a:tc>
                  <a:txBody>
                    <a:bodyPr/>
                    <a:lstStyle/>
                    <a:p>
                      <a:r>
                        <a:rPr sz="1300" b="0"/>
                        <a:t>0.2558</a:t>
                      </a:r>
                    </a:p>
                  </a:txBody>
                  <a:tcPr/>
                </a:tc>
                <a:tc>
                  <a:txBody>
                    <a:bodyPr/>
                    <a:lstStyle/>
                    <a:p>
                      <a:r>
                        <a:rPr sz="1300" b="0"/>
                        <a:t>0.3467</a:t>
                      </a:r>
                    </a:p>
                  </a:txBody>
                  <a:tcPr/>
                </a:tc>
              </a:tr>
              <a:tr h="470262">
                <a:tc>
                  <a:txBody>
                    <a:bodyPr/>
                    <a:lstStyle/>
                    <a:p/>
                  </a:txBody>
                  <a:tcPr/>
                </a:tc>
                <a:tc>
                  <a:txBody>
                    <a:bodyPr/>
                    <a:lstStyle/>
                    <a:p>
                      <a:r>
                        <a:rPr sz="1300" b="0"/>
                        <a:t>SBERT pretrained</a:t>
                      </a:r>
                    </a:p>
                  </a:txBody>
                  <a:tcPr/>
                </a:tc>
                <a:tc>
                  <a:txBody>
                    <a:bodyPr/>
                    <a:lstStyle/>
                    <a:p>
                      <a:r>
                        <a:rPr sz="1300" b="0"/>
                        <a:t>0.7430</a:t>
                      </a:r>
                    </a:p>
                  </a:txBody>
                  <a:tcPr/>
                </a:tc>
                <a:tc>
                  <a:txBody>
                    <a:bodyPr/>
                    <a:lstStyle/>
                    <a:p>
                      <a:r>
                        <a:rPr sz="1300" b="0"/>
                        <a:t>0.5800</a:t>
                      </a:r>
                    </a:p>
                  </a:txBody>
                  <a:tcPr/>
                </a:tc>
                <a:tc>
                  <a:txBody>
                    <a:bodyPr/>
                    <a:lstStyle/>
                    <a:p>
                      <a:r>
                        <a:rPr sz="1300" b="0"/>
                        <a:t>0.9321</a:t>
                      </a:r>
                    </a:p>
                  </a:txBody>
                  <a:tcPr/>
                </a:tc>
                <a:tc>
                  <a:txBody>
                    <a:bodyPr/>
                    <a:lstStyle/>
                    <a:p>
                      <a:r>
                        <a:rPr sz="1300" b="0"/>
                        <a:t>0.7151</a:t>
                      </a:r>
                    </a:p>
                  </a:txBody>
                  <a:tcPr/>
                </a:tc>
              </a:tr>
              <a:tr h="470262">
                <a:tc>
                  <a:txBody>
                    <a:bodyPr/>
                    <a:lstStyle/>
                    <a:p/>
                  </a:txBody>
                  <a:tcPr/>
                </a:tc>
                <a:tc>
                  <a:txBody>
                    <a:bodyPr/>
                    <a:lstStyle/>
                    <a:p>
                      <a:r>
                        <a:rPr sz="1300" b="1"/>
                        <a:t>SBERT fine tuned</a:t>
                      </a:r>
                    </a:p>
                  </a:txBody>
                  <a:tcPr/>
                </a:tc>
                <a:tc>
                  <a:txBody>
                    <a:bodyPr/>
                    <a:lstStyle/>
                    <a:p>
                      <a:r>
                        <a:rPr sz="1300" b="0"/>
                        <a:t>0.8260</a:t>
                      </a:r>
                    </a:p>
                  </a:txBody>
                  <a:tcPr/>
                </a:tc>
                <a:tc>
                  <a:txBody>
                    <a:bodyPr/>
                    <a:lstStyle/>
                    <a:p>
                      <a:r>
                        <a:rPr sz="1300" b="0"/>
                        <a:t>0.7544</a:t>
                      </a:r>
                    </a:p>
                  </a:txBody>
                  <a:tcPr/>
                </a:tc>
                <a:tc>
                  <a:txBody>
                    <a:bodyPr/>
                    <a:lstStyle/>
                    <a:p>
                      <a:r>
                        <a:rPr sz="1300" b="0"/>
                        <a:t>0.7370</a:t>
                      </a:r>
                    </a:p>
                  </a:txBody>
                  <a:tcPr/>
                </a:tc>
                <a:tc>
                  <a:txBody>
                    <a:bodyPr/>
                    <a:lstStyle/>
                    <a:p>
                      <a:r>
                        <a:rPr sz="1300" b="0"/>
                        <a:t>0.7456</a:t>
                      </a:r>
                    </a:p>
                  </a:txBody>
                  <a:tcPr/>
                </a:tc>
              </a:tr>
              <a:tr h="470262">
                <a:tc>
                  <a:txBody>
                    <a:bodyPr/>
                    <a:lstStyle/>
                    <a:p>
                      <a:r>
                        <a:rPr sz="1300" b="0"/>
                        <a:t>MRPC validation</a:t>
                      </a:r>
                    </a:p>
                    <a:p>
                      <a:r>
                        <a:rPr sz="1300" b="0"/>
                        <a:t>(408 pairs, unseen)</a:t>
                      </a:r>
                    </a:p>
                  </a:txBody>
                  <a:tcPr/>
                </a:tc>
                <a:tc>
                  <a:txBody>
                    <a:bodyPr/>
                    <a:lstStyle/>
                    <a:p>
                      <a:r>
                        <a:rPr sz="1300" b="0"/>
                        <a:t>TF-IDF baseline</a:t>
                      </a:r>
                    </a:p>
                  </a:txBody>
                  <a:tcPr/>
                </a:tc>
                <a:tc>
                  <a:txBody>
                    <a:bodyPr/>
                    <a:lstStyle/>
                    <a:p>
                      <a:r>
                        <a:rPr sz="1300" b="0"/>
                        <a:t>0.5049</a:t>
                      </a:r>
                    </a:p>
                  </a:txBody>
                  <a:tcPr/>
                </a:tc>
                <a:tc>
                  <a:txBody>
                    <a:bodyPr/>
                    <a:lstStyle/>
                    <a:p>
                      <a:r>
                        <a:rPr sz="1300" b="0"/>
                        <a:t>0.9326</a:t>
                      </a:r>
                    </a:p>
                  </a:txBody>
                  <a:tcPr/>
                </a:tc>
                <a:tc>
                  <a:txBody>
                    <a:bodyPr/>
                    <a:lstStyle/>
                    <a:p>
                      <a:r>
                        <a:rPr sz="1300" b="0"/>
                        <a:t>0.2975</a:t>
                      </a:r>
                    </a:p>
                  </a:txBody>
                  <a:tcPr/>
                </a:tc>
                <a:tc>
                  <a:txBody>
                    <a:bodyPr/>
                    <a:lstStyle/>
                    <a:p>
                      <a:r>
                        <a:rPr sz="1300" b="0"/>
                        <a:t>0.4511</a:t>
                      </a:r>
                    </a:p>
                  </a:txBody>
                  <a:tcPr/>
                </a:tc>
              </a:tr>
              <a:tr h="470262">
                <a:tc>
                  <a:txBody>
                    <a:bodyPr/>
                    <a:lstStyle/>
                    <a:p/>
                  </a:txBody>
                  <a:tcPr/>
                </a:tc>
                <a:tc>
                  <a:txBody>
                    <a:bodyPr/>
                    <a:lstStyle/>
                    <a:p>
                      <a:r>
                        <a:rPr sz="1300" b="0"/>
                        <a:t>SBERT pretrained</a:t>
                      </a:r>
                    </a:p>
                  </a:txBody>
                  <a:tcPr/>
                </a:tc>
                <a:tc>
                  <a:txBody>
                    <a:bodyPr/>
                    <a:lstStyle/>
                    <a:p>
                      <a:r>
                        <a:rPr sz="1300" b="0"/>
                        <a:t>0.7475</a:t>
                      </a:r>
                    </a:p>
                  </a:txBody>
                  <a:tcPr/>
                </a:tc>
                <a:tc>
                  <a:txBody>
                    <a:bodyPr/>
                    <a:lstStyle/>
                    <a:p>
                      <a:r>
                        <a:rPr sz="1300" b="0"/>
                        <a:t>0.7733</a:t>
                      </a:r>
                    </a:p>
                  </a:txBody>
                  <a:tcPr/>
                </a:tc>
                <a:tc>
                  <a:txBody>
                    <a:bodyPr/>
                    <a:lstStyle/>
                    <a:p>
                      <a:r>
                        <a:rPr sz="1300" b="0"/>
                        <a:t>0.8925</a:t>
                      </a:r>
                    </a:p>
                  </a:txBody>
                  <a:tcPr/>
                </a:tc>
                <a:tc>
                  <a:txBody>
                    <a:bodyPr/>
                    <a:lstStyle/>
                    <a:p>
                      <a:r>
                        <a:rPr sz="1300" b="0"/>
                        <a:t>0.8286</a:t>
                      </a:r>
                    </a:p>
                  </a:txBody>
                  <a:tcPr/>
                </a:tc>
              </a:tr>
              <a:tr h="470268">
                <a:tc>
                  <a:txBody>
                    <a:bodyPr/>
                    <a:lstStyle/>
                    <a:p/>
                  </a:txBody>
                  <a:tcPr/>
                </a:tc>
                <a:tc>
                  <a:txBody>
                    <a:bodyPr/>
                    <a:lstStyle/>
                    <a:p>
                      <a:r>
                        <a:rPr sz="1300" b="1"/>
                        <a:t>SBERT fine tuned</a:t>
                      </a:r>
                    </a:p>
                  </a:txBody>
                  <a:tcPr/>
                </a:tc>
                <a:tc>
                  <a:txBody>
                    <a:bodyPr/>
                    <a:lstStyle/>
                    <a:p>
                      <a:r>
                        <a:rPr sz="1300" b="0"/>
                        <a:t>0.6691</a:t>
                      </a:r>
                    </a:p>
                  </a:txBody>
                  <a:tcPr/>
                </a:tc>
                <a:tc>
                  <a:txBody>
                    <a:bodyPr/>
                    <a:lstStyle/>
                    <a:p>
                      <a:r>
                        <a:rPr sz="1300" b="0"/>
                        <a:t>0.8077</a:t>
                      </a:r>
                    </a:p>
                  </a:txBody>
                  <a:tcPr/>
                </a:tc>
                <a:tc>
                  <a:txBody>
                    <a:bodyPr/>
                    <a:lstStyle/>
                    <a:p>
                      <a:r>
                        <a:rPr sz="1300" b="0"/>
                        <a:t>0.6774</a:t>
                      </a:r>
                    </a:p>
                  </a:txBody>
                  <a:tcPr/>
                </a:tc>
                <a:tc>
                  <a:txBody>
                    <a:bodyPr/>
                    <a:lstStyle/>
                    <a:p>
                      <a:r>
                        <a:rPr sz="1300" b="0"/>
                        <a:t>0.7368</a:t>
                      </a:r>
                    </a:p>
                  </a:txBody>
                  <a:tcPr/>
                </a:tc>
              </a:tr>
            </a:tbl>
          </a:graphicData>
        </a:graphic>
      </p:graphicFrame>
      <p:sp>
        <p:nvSpPr>
          <p:cNvPr id="4" name="TextBox 3"/>
          <p:cNvSpPr txBox="1"/>
          <p:nvPr/>
        </p:nvSpPr>
        <p:spPr>
          <a:xfrm>
            <a:off x="457200" y="5029200"/>
            <a:ext cx="8229600" cy="1280160"/>
          </a:xfrm>
          <a:prstGeom prst="rect">
            <a:avLst/>
          </a:prstGeom>
          <a:noFill/>
        </p:spPr>
        <p:txBody>
          <a:bodyPr wrap="square">
            <a:spAutoFit/>
          </a:bodyPr>
          <a:lstStyle/>
          <a:p>
            <a:r>
              <a:rPr sz="1400" i="1">
                <a:solidFill>
                  <a:srgbClr val="5A5A5A"/>
                </a:solidFill>
              </a:rPr>
              <a:t>Both sets scored at the fixed threshold of 0.70.</a:t>
            </a:r>
          </a:p>
          <a:p>
            <a:r>
              <a:rPr sz="1400" i="1">
                <a:solidFill>
                  <a:srgbClr val="5A5A5A"/>
                </a:solidFill>
              </a:rPr>
              <a:t>The second corpus is the honest test: a plagiarism checker meets text it was not trained on every single time somebody uses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Those Numbers Say</a:t>
            </a:r>
          </a:p>
        </p:txBody>
      </p:sp>
      <p:sp>
        <p:nvSpPr>
          <p:cNvPr id="3" name="Content Placeholder 2"/>
          <p:cNvSpPr>
            <a:spLocks noGrp="1"/>
          </p:cNvSpPr>
          <p:nvPr>
            <p:ph idx="1"/>
          </p:nvPr>
        </p:nvSpPr>
        <p:spPr/>
        <p:txBody>
          <a:bodyPr wrap="square"/>
          <a:lstStyle/>
          <a:p>
            <a:pPr>
              <a:spcAft>
                <a:spcPts val="600"/>
              </a:spcAft>
            </a:pPr>
            <a:r>
              <a:rPr sz="1700" b="1">
                <a:solidFill>
                  <a:srgbClr val="1F3B73"/>
                </a:solidFill>
              </a:rPr>
              <a:t>Fine tuning worked.</a:t>
            </a:r>
          </a:p>
          <a:p>
            <a:pPr lvl="1">
              <a:spcAft>
                <a:spcPts val="600"/>
              </a:spcAft>
            </a:pPr>
            <a:r>
              <a:rPr sz="1400" b="0"/>
              <a:t>On the corpus it trained on, accuracy went from 0.7430 to 0.8260, a gain of 8.3 points.</a:t>
            </a:r>
          </a:p>
          <a:p>
            <a:pPr>
              <a:spcAft>
                <a:spcPts val="600"/>
              </a:spcAft>
            </a:pPr>
            <a:r>
              <a:rPr sz="1700" b="1">
                <a:solidFill>
                  <a:srgbClr val="1F3B73"/>
                </a:solidFill>
              </a:rPr>
              <a:t>The word based baseline fails at the one job this project exists to do.</a:t>
            </a:r>
          </a:p>
          <a:p>
            <a:pPr lvl="1">
              <a:spcAft>
                <a:spcPts val="600"/>
              </a:spcAft>
            </a:pPr>
            <a:r>
              <a:rPr sz="1400" b="0"/>
              <a:t>Its recall on paraphrased pairs is 0.2558. Roughly three reworded passages in every four walk straight past it.</a:t>
            </a:r>
          </a:p>
          <a:p>
            <a:pPr>
              <a:spcAft>
                <a:spcPts val="600"/>
              </a:spcAft>
            </a:pPr>
            <a:r>
              <a:rPr sz="1700" b="1">
                <a:solidFill>
                  <a:srgbClr val="1F3B73"/>
                </a:solidFill>
              </a:rPr>
              <a:t>The classes separated further apart.</a:t>
            </a:r>
          </a:p>
          <a:p>
            <a:pPr lvl="1">
              <a:spcAft>
                <a:spcPts val="600"/>
              </a:spcAft>
            </a:pPr>
            <a:r>
              <a:rPr sz="1400" b="0"/>
              <a:t>The distance between the average paraphrased score and the average unrelated score widened from 0.310 to 0.448. That is what gives a threshold room to sit in.</a:t>
            </a:r>
          </a:p>
          <a:p>
            <a:pPr>
              <a:spcAft>
                <a:spcPts val="600"/>
              </a:spcAft>
            </a:pPr>
            <a:r>
              <a:rPr sz="1700" b="1">
                <a:solidFill>
                  <a:srgbClr val="1F3B73"/>
                </a:solidFill>
              </a:rPr>
              <a:t>We chose the cautious model.</a:t>
            </a:r>
          </a:p>
          <a:p>
            <a:pPr lvl="1">
              <a:spcAft>
                <a:spcPts val="600"/>
              </a:spcAft>
            </a:pPr>
            <a:r>
              <a:rPr sz="1400" b="0"/>
              <a:t>The pretrained model produces 467 false positives, ours 166. A false positive is an accusation aimed at a student who did nothing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Finding That Changed the Product</a:t>
            </a:r>
          </a:p>
        </p:txBody>
      </p:sp>
      <p:sp>
        <p:nvSpPr>
          <p:cNvPr id="3" name="Content Placeholder 2"/>
          <p:cNvSpPr>
            <a:spLocks noGrp="1"/>
          </p:cNvSpPr>
          <p:nvPr>
            <p:ph idx="1"/>
          </p:nvPr>
        </p:nvSpPr>
        <p:spPr/>
        <p:txBody>
          <a:bodyPr wrap="square"/>
          <a:lstStyle/>
          <a:p>
            <a:pPr>
              <a:spcAft>
                <a:spcPts val="600"/>
              </a:spcAft>
            </a:pPr>
            <a:r>
              <a:rPr sz="1700" b="0"/>
              <a:t>Fine tuning does not simply lift every number on the page. It moves the scale the model scores on.</a:t>
            </a:r>
          </a:p>
          <a:p>
            <a:pPr>
              <a:spcAft>
                <a:spcPts val="600"/>
              </a:spcAft>
            </a:pPr>
            <a:r>
              <a:rPr sz="1700" b="0"/>
              <a:t>On the corpus we trained on, the best threshold for our model is 0.70, the value already in the code.</a:t>
            </a:r>
          </a:p>
          <a:p>
            <a:pPr>
              <a:spcAft>
                <a:spcPts val="600"/>
              </a:spcAft>
            </a:pPr>
            <a:r>
              <a:rPr sz="1700" b="0"/>
              <a:t>On the corpus it had never seen, the same model wants 0.45. Held at 0.70 it scores 0.6691 there, against 0.7328 once the threshold is tuned.</a:t>
            </a:r>
          </a:p>
          <a:p>
            <a:pPr>
              <a:spcAft>
                <a:spcPts val="600"/>
              </a:spcAft>
            </a:pPr>
            <a:r>
              <a:rPr sz="1700" b="0"/>
              <a:t>So a threshold fixed against one corpus is quietly wrong for another. We only saw it because we evaluated on a corpus the model had never met.</a:t>
            </a:r>
          </a:p>
          <a:p>
            <a:pPr>
              <a:spcAft>
                <a:spcPts val="600"/>
              </a:spcAft>
            </a:pPr>
            <a:r>
              <a:rPr sz="1700" b="1">
                <a:solidFill>
                  <a:srgbClr val="1F3B73"/>
                </a:solidFill>
              </a:rPr>
              <a:t>The threshold left the source code and became a slider in the interface, and the value actually used is printed beside every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Speed: 5.1 Times Faster</a:t>
            </a:r>
          </a:p>
        </p:txBody>
      </p:sp>
      <p:sp>
        <p:nvSpPr>
          <p:cNvPr id="3" name="TextBox 2"/>
          <p:cNvSpPr txBox="1"/>
          <p:nvPr/>
        </p:nvSpPr>
        <p:spPr>
          <a:xfrm>
            <a:off x="457200" y="1463040"/>
            <a:ext cx="4206240" cy="4114800"/>
          </a:xfrm>
          <a:prstGeom prst="rect">
            <a:avLst/>
          </a:prstGeom>
          <a:noFill/>
        </p:spPr>
        <p:txBody>
          <a:bodyPr wrap="square">
            <a:spAutoFit/>
          </a:bodyPr>
          <a:lstStyle/>
          <a:p>
            <a:pPr>
              <a:spcAft>
                <a:spcPts val="800"/>
              </a:spcAft>
            </a:pPr>
            <a:r>
              <a:rPr sz="1500" b="0"/>
              <a:t>10 documents, about 2628 words each, 1335 sentences, all 45 pairs highlighted, on the processor.</a:t>
            </a:r>
          </a:p>
          <a:p>
            <a:pPr>
              <a:spcAft>
                <a:spcPts val="800"/>
              </a:spcAft>
            </a:pPr>
            <a:r>
              <a:rPr sz="1500" b="1"/>
              <a:t>Before: 27.1 seconds</a:t>
            </a:r>
          </a:p>
          <a:p>
            <a:pPr lvl="1">
              <a:spcAft>
                <a:spcPts val="800"/>
              </a:spcAft>
            </a:pPr>
            <a:r>
              <a:rPr sz="1300" b="0"/>
              <a:t>The whole document in one call, and its sentences encoded again for every pair it appeared in.</a:t>
            </a:r>
          </a:p>
          <a:p>
            <a:pPr>
              <a:spcAft>
                <a:spcPts val="800"/>
              </a:spcAft>
            </a:pPr>
            <a:r>
              <a:rPr sz="1500" b="1"/>
              <a:t>After: 5.3 seconds</a:t>
            </a:r>
          </a:p>
          <a:p>
            <a:pPr lvl="1">
              <a:spcAft>
                <a:spcPts val="800"/>
              </a:spcAft>
            </a:pPr>
            <a:r>
              <a:rPr sz="1300" b="0"/>
              <a:t>Chunks of five sentences, pushed through in batches, every encoded sentence cached.</a:t>
            </a:r>
          </a:p>
          <a:p>
            <a:pPr>
              <a:spcAft>
                <a:spcPts val="800"/>
              </a:spcAft>
            </a:pPr>
            <a:r>
              <a:rPr sz="1500" b="0"/>
              <a:t>It also uncovered a defect. The model truncates anything longer than its input window, so the tail of a long document was never being compared and nothing in the output said so.</a:t>
            </a:r>
          </a:p>
        </p:txBody>
      </p:sp>
      <p:pic>
        <p:nvPicPr>
          <p:cNvPr id="4" name="Picture 3" descr="fig8_timing.png"/>
          <p:cNvPicPr>
            <a:picLocks noChangeAspect="1"/>
          </p:cNvPicPr>
          <p:nvPr/>
        </p:nvPicPr>
        <p:blipFill>
          <a:blip r:embed="rId2"/>
          <a:stretch>
            <a:fillRect/>
          </a:stretch>
        </p:blipFill>
        <p:spPr>
          <a:xfrm>
            <a:off x="4754880" y="2286000"/>
            <a:ext cx="4114800" cy="229663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a:t>
            </a:r>
          </a:p>
        </p:txBody>
      </p:sp>
      <p:sp>
        <p:nvSpPr>
          <p:cNvPr id="3" name="Content Placeholder 2"/>
          <p:cNvSpPr>
            <a:spLocks noGrp="1"/>
          </p:cNvSpPr>
          <p:nvPr>
            <p:ph idx="1"/>
          </p:nvPr>
        </p:nvSpPr>
        <p:spPr/>
        <p:txBody>
          <a:bodyPr wrap="square"/>
          <a:lstStyle/>
          <a:p>
            <a:pPr>
              <a:spcAft>
                <a:spcPts val="600"/>
              </a:spcAft>
            </a:pPr>
            <a:r>
              <a:rPr sz="1700" b="1">
                <a:solidFill>
                  <a:srgbClr val="1F3B73"/>
                </a:solidFill>
              </a:rPr>
              <a:t>Twenty four unit tests, all passing.</a:t>
            </a:r>
          </a:p>
          <a:p>
            <a:pPr lvl="1">
              <a:spcAft>
                <a:spcPts val="600"/>
              </a:spcAft>
            </a:pPr>
            <a:r>
              <a:rPr sz="1400" b="0"/>
              <a:t>preprocess 9, text_extraction 7, similarity 8.</a:t>
            </a:r>
          </a:p>
          <a:p>
            <a:pPr lvl="1">
              <a:spcAft>
                <a:spcPts val="600"/>
              </a:spcAft>
            </a:pPr>
            <a:r>
              <a:rPr sz="1400" b="0"/>
              <a:t>None of them start Django and none of them load the trained model, so the suite finishes in well under a second and we ran it after every change.</a:t>
            </a:r>
          </a:p>
          <a:p>
            <a:pPr>
              <a:spcAft>
                <a:spcPts val="600"/>
              </a:spcAft>
            </a:pPr>
            <a:r>
              <a:rPr sz="1700" b="1">
                <a:solidFill>
                  <a:srgbClr val="1F3B73"/>
                </a:solidFill>
              </a:rPr>
              <a:t>A functional walk through of the whole system.</a:t>
            </a:r>
          </a:p>
          <a:p>
            <a:pPr lvl="1">
              <a:spcAft>
                <a:spcPts val="600"/>
              </a:spcAft>
            </a:pPr>
            <a:r>
              <a:rPr sz="1400" b="0"/>
              <a:t>Every supported format, and every failure case: no file, one file, unsupported type, empty file, corrupt DOCX, unreadable scan, a web page that refuses to answer.</a:t>
            </a:r>
          </a:p>
          <a:p>
            <a:pPr lvl="1">
              <a:spcAft>
                <a:spcPts val="600"/>
              </a:spcAft>
            </a:pPr>
            <a:r>
              <a:rPr sz="1400" b="0"/>
              <a:t>A document compared with itself returns exactly 1.00, and an unrelated pair sits near zero.</a:t>
            </a:r>
          </a:p>
          <a:p>
            <a:pPr>
              <a:spcAft>
                <a:spcPts val="600"/>
              </a:spcAft>
            </a:pPr>
            <a:r>
              <a:rPr sz="1700" b="1">
                <a:solidFill>
                  <a:srgbClr val="1F3B73"/>
                </a:solidFill>
              </a:rPr>
              <a:t>User testing.</a:t>
            </a:r>
          </a:p>
          <a:p>
            <a:pPr lvl="1">
              <a:spcAft>
                <a:spcPts val="600"/>
              </a:spcAft>
            </a:pPr>
            <a:r>
              <a:rPr sz="1400" b="0"/>
              <a:t>Classmates and teachers used the finished application on their own work, which is where the most useful criticism came from.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Finished Application</a:t>
            </a:r>
          </a:p>
        </p:txBody>
      </p:sp>
      <p:pic>
        <p:nvPicPr>
          <p:cNvPr id="3" name="Picture 2" descr="annex2_matrix.png"/>
          <p:cNvPicPr>
            <a:picLocks noChangeAspect="1"/>
          </p:cNvPicPr>
          <p:nvPr/>
        </p:nvPicPr>
        <p:blipFill>
          <a:blip r:embed="rId2"/>
          <a:stretch>
            <a:fillRect/>
          </a:stretch>
        </p:blipFill>
        <p:spPr>
          <a:xfrm>
            <a:off x="274320" y="1600200"/>
            <a:ext cx="4297680" cy="2958013"/>
          </a:xfrm>
          <a:prstGeom prst="rect">
            <a:avLst/>
          </a:prstGeom>
        </p:spPr>
      </p:pic>
      <p:pic>
        <p:nvPicPr>
          <p:cNvPr id="4" name="Picture 3" descr="annex3_highlight.png"/>
          <p:cNvPicPr>
            <a:picLocks noChangeAspect="1"/>
          </p:cNvPicPr>
          <p:nvPr/>
        </p:nvPicPr>
        <p:blipFill>
          <a:blip r:embed="rId3"/>
          <a:stretch>
            <a:fillRect/>
          </a:stretch>
        </p:blipFill>
        <p:spPr>
          <a:xfrm>
            <a:off x="4572000" y="2057400"/>
            <a:ext cx="4297680" cy="2293215"/>
          </a:xfrm>
          <a:prstGeom prst="rect">
            <a:avLst/>
          </a:prstGeom>
        </p:spPr>
      </p:pic>
      <p:sp>
        <p:nvSpPr>
          <p:cNvPr id="5" name="TextBox 4"/>
          <p:cNvSpPr txBox="1"/>
          <p:nvPr/>
        </p:nvSpPr>
        <p:spPr>
          <a:xfrm>
            <a:off x="365760" y="5212080"/>
            <a:ext cx="8412480" cy="731520"/>
          </a:xfrm>
          <a:prstGeom prst="rect">
            <a:avLst/>
          </a:prstGeom>
          <a:noFill/>
        </p:spPr>
        <p:txBody>
          <a:bodyPr wrap="none">
            <a:spAutoFit/>
          </a:bodyPr>
          <a:lstStyle/>
          <a:p>
            <a:pPr algn="ctr"/>
            <a:r>
              <a:rPr sz="1400" i="1">
                <a:solidFill>
                  <a:srgbClr val="5A5A5A"/>
                </a:solidFill>
              </a:rPr>
              <a:t>The similarity matrix over the batch, and the copied sentences marked inside the document.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wrap="square"/>
          <a:lstStyle/>
          <a:p>
            <a:pPr>
              <a:spcAft>
                <a:spcPts val="600"/>
              </a:spcAft>
            </a:pPr>
            <a:r>
              <a:rPr sz="1600" b="0"/>
              <a:t>Nepali accuracy sits below English accuracy. We adapted the text handling for Devanagari but not the model, which learned from English pairs only.</a:t>
            </a:r>
          </a:p>
          <a:p>
            <a:pPr>
              <a:spcAft>
                <a:spcPts val="600"/>
              </a:spcAft>
            </a:pPr>
            <a:r>
              <a:rPr sz="1600" b="0"/>
              <a:t>The best threshold for one kind of text is not the best for another. We put the control in the interface, but the user still has to understand what they are moving.</a:t>
            </a:r>
          </a:p>
          <a:p>
            <a:pPr>
              <a:spcAft>
                <a:spcPts val="600"/>
              </a:spcAft>
            </a:pPr>
            <a:r>
              <a:rPr sz="1600" b="0"/>
              <a:t>The web check only sees what it can reach at that moment, so it is never exhaustive.</a:t>
            </a:r>
          </a:p>
          <a:p>
            <a:pPr>
              <a:spcAft>
                <a:spcPts val="600"/>
              </a:spcAft>
            </a:pPr>
            <a:r>
              <a:rPr sz="1600" b="0"/>
              <a:t>A poor scan gives poor text out of the recognition step, and no model quality downstream can repair that.</a:t>
            </a:r>
          </a:p>
          <a:p>
            <a:pPr>
              <a:spcAft>
                <a:spcPts val="600"/>
              </a:spcAft>
            </a:pPr>
            <a:r>
              <a:rPr sz="1600" b="0"/>
              <a:t>There is no archive of past submissions, so a paragraph lifted from a report handed in three years ago goes straight through.</a:t>
            </a:r>
          </a:p>
          <a:p>
            <a:pPr>
              <a:spcAft>
                <a:spcPts val="600"/>
              </a:spcAft>
            </a:pPr>
            <a:r>
              <a:rPr sz="1600" b="0"/>
              <a:t>Source code, mathematical notation and figures are not handled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and Future Work</a:t>
            </a:r>
          </a:p>
        </p:txBody>
      </p:sp>
      <p:sp>
        <p:nvSpPr>
          <p:cNvPr id="3" name="Content Placeholder 2"/>
          <p:cNvSpPr>
            <a:spLocks noGrp="1"/>
          </p:cNvSpPr>
          <p:nvPr>
            <p:ph idx="1"/>
          </p:nvPr>
        </p:nvSpPr>
        <p:spPr/>
        <p:txBody>
          <a:bodyPr wrap="square"/>
          <a:lstStyle/>
          <a:p>
            <a:pPr>
              <a:spcAft>
                <a:spcPts val="600"/>
              </a:spcAft>
            </a:pPr>
            <a:r>
              <a:rPr sz="1700" b="0"/>
              <a:t>We set out to build a free plagiarism detector that compares meaning instead of words. That is done, and it has been measured rather than asserted.</a:t>
            </a:r>
          </a:p>
          <a:p>
            <a:pPr>
              <a:spcAft>
                <a:spcPts val="600"/>
              </a:spcAft>
            </a:pPr>
            <a:r>
              <a:rPr sz="1700" b="1">
                <a:solidFill>
                  <a:srgbClr val="1F3B73"/>
                </a:solidFill>
              </a:rPr>
              <a:t>Future work</a:t>
            </a:r>
          </a:p>
          <a:p>
            <a:pPr lvl="1">
              <a:spcAft>
                <a:spcPts val="600"/>
              </a:spcAft>
            </a:pPr>
            <a:r>
              <a:rPr sz="1500" b="0"/>
              <a:t>Train on a corpus of real student work, so the model sees the copying that actually happens in assignments.</a:t>
            </a:r>
          </a:p>
          <a:p>
            <a:pPr lvl="1">
              <a:spcAft>
                <a:spcPts val="600"/>
              </a:spcAft>
            </a:pPr>
            <a:r>
              <a:rPr sz="1500" b="0"/>
              <a:t>Fine tune a multilingual model on Nepali paraphrase pairs, so Devanagari accuracy matches English.</a:t>
            </a:r>
          </a:p>
          <a:p>
            <a:pPr lvl="1">
              <a:spcAft>
                <a:spcPts val="600"/>
              </a:spcAft>
            </a:pPr>
            <a:r>
              <a:rPr sz="1500" b="0"/>
              <a:t>Add an archive of past submissions for a department.</a:t>
            </a:r>
          </a:p>
          <a:p>
            <a:pPr lvl="1">
              <a:spcAft>
                <a:spcPts val="600"/>
              </a:spcAft>
            </a:pPr>
            <a:r>
              <a:rPr sz="1500" b="0"/>
              <a:t>Add support for source code, where plagiarism is detected by comparing structure rather than text.</a:t>
            </a:r>
          </a:p>
          <a:p>
            <a:pPr lvl="1">
              <a:spcAft>
                <a:spcPts val="600"/>
              </a:spcAft>
            </a:pPr>
            <a:r>
              <a:rPr sz="1500" b="0"/>
              <a:t>Add optional accounts for teachers who want to keep reports, with the anonymous mode staying the default.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 and Feedback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